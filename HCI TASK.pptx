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72" y="61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E486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E486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E486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206992" y="2963291"/>
            <a:ext cx="2981960" cy="3209290"/>
          </a:xfrm>
          <a:custGeom>
            <a:avLst/>
            <a:gdLst/>
            <a:ahLst/>
            <a:cxnLst/>
            <a:rect l="l" t="t" r="r" b="b"/>
            <a:pathLst>
              <a:path w="2981959" h="3209290">
                <a:moveTo>
                  <a:pt x="2981832" y="0"/>
                </a:moveTo>
                <a:lnTo>
                  <a:pt x="2068956" y="912876"/>
                </a:lnTo>
              </a:path>
              <a:path w="2981959" h="3209290">
                <a:moveTo>
                  <a:pt x="2981832" y="227075"/>
                </a:moveTo>
                <a:lnTo>
                  <a:pt x="0" y="3208909"/>
                </a:lnTo>
              </a:path>
              <a:path w="2981959" h="3209290">
                <a:moveTo>
                  <a:pt x="2981832" y="321818"/>
                </a:moveTo>
                <a:lnTo>
                  <a:pt x="1085341" y="2218309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43083" y="3131058"/>
            <a:ext cx="1746250" cy="1822450"/>
          </a:xfrm>
          <a:custGeom>
            <a:avLst/>
            <a:gdLst/>
            <a:ahLst/>
            <a:cxnLst/>
            <a:rect l="l" t="t" r="r" b="b"/>
            <a:pathLst>
              <a:path w="1746250" h="1822450">
                <a:moveTo>
                  <a:pt x="1745742" y="0"/>
                </a:moveTo>
                <a:lnTo>
                  <a:pt x="0" y="1745741"/>
                </a:lnTo>
              </a:path>
              <a:path w="1746250" h="1822450">
                <a:moveTo>
                  <a:pt x="1745742" y="551941"/>
                </a:moveTo>
                <a:lnTo>
                  <a:pt x="475742" y="1821941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67955" y="3015995"/>
            <a:ext cx="1178813" cy="115747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40608" y="2801111"/>
            <a:ext cx="4716018" cy="15049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E486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206992" y="2963291"/>
            <a:ext cx="2981960" cy="3209290"/>
          </a:xfrm>
          <a:custGeom>
            <a:avLst/>
            <a:gdLst/>
            <a:ahLst/>
            <a:cxnLst/>
            <a:rect l="l" t="t" r="r" b="b"/>
            <a:pathLst>
              <a:path w="2981959" h="3209290">
                <a:moveTo>
                  <a:pt x="2981832" y="0"/>
                </a:moveTo>
                <a:lnTo>
                  <a:pt x="2068956" y="912876"/>
                </a:lnTo>
              </a:path>
              <a:path w="2981959" h="3209290">
                <a:moveTo>
                  <a:pt x="2981832" y="227075"/>
                </a:moveTo>
                <a:lnTo>
                  <a:pt x="0" y="3208909"/>
                </a:lnTo>
              </a:path>
              <a:path w="2981959" h="3209290">
                <a:moveTo>
                  <a:pt x="2981832" y="321818"/>
                </a:moveTo>
                <a:lnTo>
                  <a:pt x="1085341" y="2218309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43083" y="3131058"/>
            <a:ext cx="1746250" cy="1822450"/>
          </a:xfrm>
          <a:custGeom>
            <a:avLst/>
            <a:gdLst/>
            <a:ahLst/>
            <a:cxnLst/>
            <a:rect l="l" t="t" r="r" b="b"/>
            <a:pathLst>
              <a:path w="1746250" h="1822450">
                <a:moveTo>
                  <a:pt x="1745742" y="0"/>
                </a:moveTo>
                <a:lnTo>
                  <a:pt x="0" y="1745741"/>
                </a:lnTo>
              </a:path>
              <a:path w="1746250" h="1822450">
                <a:moveTo>
                  <a:pt x="1745742" y="551941"/>
                </a:moveTo>
                <a:lnTo>
                  <a:pt x="475742" y="1821941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0555" y="76276"/>
            <a:ext cx="9039225" cy="909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E486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87550" y="1411350"/>
            <a:ext cx="8216900" cy="4617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101841" y="2159"/>
            <a:ext cx="6102985" cy="6176645"/>
            <a:chOff x="6101841" y="2159"/>
            <a:chExt cx="6102985" cy="6176645"/>
          </a:xfrm>
        </p:grpSpPr>
        <p:sp>
          <p:nvSpPr>
            <p:cNvPr id="4" name="object 4"/>
            <p:cNvSpPr/>
            <p:nvPr/>
          </p:nvSpPr>
          <p:spPr>
            <a:xfrm>
              <a:off x="6108191" y="8509"/>
              <a:ext cx="6080760" cy="6163945"/>
            </a:xfrm>
            <a:custGeom>
              <a:avLst/>
              <a:gdLst/>
              <a:ahLst/>
              <a:cxnLst/>
              <a:rect l="l" t="t" r="r" b="b"/>
              <a:pathLst>
                <a:path w="6080759" h="6163945">
                  <a:moveTo>
                    <a:pt x="5929757" y="0"/>
                  </a:moveTo>
                  <a:lnTo>
                    <a:pt x="2119757" y="3810000"/>
                  </a:lnTo>
                </a:path>
                <a:path w="6080759" h="6163945">
                  <a:moveTo>
                    <a:pt x="6080633" y="83058"/>
                  </a:moveTo>
                  <a:lnTo>
                    <a:pt x="0" y="6163691"/>
                  </a:lnTo>
                </a:path>
                <a:path w="6080759" h="6163945">
                  <a:moveTo>
                    <a:pt x="6080633" y="220091"/>
                  </a:moveTo>
                  <a:lnTo>
                    <a:pt x="1127633" y="5173091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335773" y="32257"/>
              <a:ext cx="4853305" cy="4921250"/>
            </a:xfrm>
            <a:custGeom>
              <a:avLst/>
              <a:gdLst/>
              <a:ahLst/>
              <a:cxnLst/>
              <a:rect l="l" t="t" r="r" b="b"/>
              <a:pathLst>
                <a:path w="4853305" h="4921250">
                  <a:moveTo>
                    <a:pt x="4853051" y="0"/>
                  </a:moveTo>
                  <a:lnTo>
                    <a:pt x="0" y="4853051"/>
                  </a:lnTo>
                </a:path>
                <a:path w="4853305" h="4921250">
                  <a:moveTo>
                    <a:pt x="4853051" y="577342"/>
                  </a:moveTo>
                  <a:lnTo>
                    <a:pt x="509650" y="4920742"/>
                  </a:lnTo>
                </a:path>
              </a:pathLst>
            </a:custGeom>
            <a:ln w="317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4054475">
              <a:lnSpc>
                <a:spcPct val="100000"/>
              </a:lnSpc>
              <a:spcBef>
                <a:spcPts val="100"/>
              </a:spcBef>
            </a:pPr>
            <a:r>
              <a:rPr sz="4800" b="1" spc="-300" dirty="0">
                <a:solidFill>
                  <a:srgbClr val="000000"/>
                </a:solidFill>
                <a:latin typeface="Tahoma"/>
                <a:cs typeface="Tahoma"/>
              </a:rPr>
              <a:t>PROJECT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2651" y="1601470"/>
            <a:ext cx="41021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75" dirty="0">
                <a:latin typeface="Tahoma"/>
                <a:cs typeface="Tahoma"/>
              </a:rPr>
              <a:t>Fares</a:t>
            </a:r>
            <a:r>
              <a:rPr sz="2000" b="1" spc="6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Nageh</a:t>
            </a:r>
            <a:r>
              <a:rPr sz="2000" b="1" spc="5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Abdel</a:t>
            </a:r>
            <a:r>
              <a:rPr lang="en-US" sz="2000" b="1" spc="40" dirty="0">
                <a:latin typeface="Tahoma"/>
                <a:cs typeface="Tahoma"/>
              </a:rPr>
              <a:t>a</a:t>
            </a:r>
            <a:r>
              <a:rPr sz="2000" b="1" dirty="0">
                <a:latin typeface="Tahoma"/>
                <a:cs typeface="Tahoma"/>
              </a:rPr>
              <a:t>al</a:t>
            </a:r>
            <a:r>
              <a:rPr sz="2000" b="1" spc="55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Abdelaal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28361" y="1601470"/>
            <a:ext cx="9372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38810" algn="l"/>
              </a:tabLst>
            </a:pPr>
            <a:r>
              <a:rPr sz="2000" b="1" spc="-25" dirty="0">
                <a:latin typeface="Tahoma"/>
                <a:cs typeface="Tahoma"/>
              </a:rPr>
              <a:t>C3</a:t>
            </a:r>
            <a:r>
              <a:rPr sz="2000" b="1" dirty="0">
                <a:latin typeface="Tahoma"/>
                <a:cs typeface="Tahoma"/>
              </a:rPr>
              <a:t>	</a:t>
            </a:r>
            <a:r>
              <a:rPr sz="2000" b="1" spc="-125" dirty="0">
                <a:latin typeface="Tahoma"/>
                <a:cs typeface="Tahoma"/>
              </a:rPr>
              <a:t>45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2651" y="2485770"/>
            <a:ext cx="41783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ahoma"/>
                <a:cs typeface="Tahoma"/>
              </a:rPr>
              <a:t>Mohamed</a:t>
            </a:r>
            <a:r>
              <a:rPr sz="2000" b="1" spc="-15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Hamdi</a:t>
            </a:r>
            <a:r>
              <a:rPr sz="2000" b="1" spc="20" dirty="0">
                <a:latin typeface="Tahoma"/>
                <a:cs typeface="Tahoma"/>
              </a:rPr>
              <a:t> </a:t>
            </a:r>
            <a:r>
              <a:rPr sz="2000" b="1" spc="-80" dirty="0">
                <a:latin typeface="Tahoma"/>
                <a:cs typeface="Tahoma"/>
              </a:rPr>
              <a:t>Basuoni</a:t>
            </a:r>
            <a:r>
              <a:rPr sz="2000" b="1" spc="-10" dirty="0">
                <a:latin typeface="Tahoma"/>
                <a:cs typeface="Tahoma"/>
              </a:rPr>
              <a:t> Awaad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04651" y="2485770"/>
            <a:ext cx="9385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0080" algn="l"/>
              </a:tabLst>
            </a:pPr>
            <a:r>
              <a:rPr sz="2000" b="1" spc="-25" dirty="0">
                <a:latin typeface="Tahoma"/>
                <a:cs typeface="Tahoma"/>
              </a:rPr>
              <a:t>C4</a:t>
            </a:r>
            <a:r>
              <a:rPr sz="2000" b="1" dirty="0">
                <a:latin typeface="Tahoma"/>
                <a:cs typeface="Tahoma"/>
              </a:rPr>
              <a:t>	</a:t>
            </a:r>
            <a:r>
              <a:rPr sz="2000" b="1" spc="-125" dirty="0">
                <a:latin typeface="Tahoma"/>
                <a:cs typeface="Tahoma"/>
              </a:rPr>
              <a:t>17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67988" y="4769357"/>
            <a:ext cx="3112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Supervised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by: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Eng.Omar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Khaled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0555" y="156463"/>
            <a:ext cx="709739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400" dirty="0"/>
              <a:t>BEFORE MODIFICATION: Home Screen</a:t>
            </a:r>
            <a:endParaRPr lang="en-US" sz="2250" dirty="0">
              <a:latin typeface="Segoe UI Symbol"/>
              <a:cs typeface="Segoe UI Symbo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8201" y="0"/>
            <a:ext cx="3733800" cy="6858000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CDBC1B30-B251-9588-06A5-57036E08F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9" y="990600"/>
            <a:ext cx="844843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 many things on screen: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screen has too many banners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products, which makes it messy.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 to think: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Users need extra effort to understand where to start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because of high cognitive load.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Distracting ads: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Many advertisements appear at the same time,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causing confusion.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icons: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Navigation buttons are too small and not clear to see.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clear order: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There is no clear focus to guide the user's eye to important items.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 to read: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Information is crowded, which reduces reading speed.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9039225" cy="510780"/>
          </a:xfrm>
          <a:prstGeom prst="rect">
            <a:avLst/>
          </a:prstGeom>
        </p:spPr>
        <p:txBody>
          <a:bodyPr vert="horz" wrap="square" lIns="0" tIns="79120" rIns="0" bIns="0" rtlCol="0">
            <a:spAutoFit/>
          </a:bodyPr>
          <a:lstStyle/>
          <a:p>
            <a:pPr marL="324866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Violated HCI Principles:</a:t>
            </a:r>
            <a:endParaRPr sz="2250" dirty="0">
              <a:latin typeface="Segoe UI Symbol"/>
              <a:cs typeface="Segoe UI Symbol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570414B-A07D-FE8F-A0D7-7C8A4A9EF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575138"/>
            <a:ext cx="908774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Aesthetic and Minimalist Design: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design is not simple and has too much clutter.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Important information and buttons are hidden or not clear.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system does not provide enough tools to help users make a good choice.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 of use: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takes too much time to find what the user wants.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0555" y="76276"/>
            <a:ext cx="9039225" cy="981345"/>
          </a:xfrm>
          <a:prstGeom prst="rect">
            <a:avLst/>
          </a:prstGeom>
        </p:spPr>
        <p:txBody>
          <a:bodyPr vert="horz" wrap="square" lIns="0" tIns="263194" rIns="0" bIns="0" rtlCol="0">
            <a:spAutoFit/>
          </a:bodyPr>
          <a:lstStyle/>
          <a:p>
            <a:pPr marL="571500">
              <a:spcBef>
                <a:spcPts val="95"/>
              </a:spcBef>
            </a:pPr>
            <a:r>
              <a:rPr lang="en-US" sz="2400" b="1" dirty="0"/>
              <a:t>AFTER MODIFICATION: HOME SCREEN</a:t>
            </a:r>
            <a:br>
              <a:rPr lang="en-US" sz="2400" b="1" dirty="0"/>
            </a:br>
            <a:endParaRPr sz="2250" dirty="0">
              <a:latin typeface="Segoe UI Symbol"/>
              <a:cs typeface="Segoe UI Symbo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8200" y="-1"/>
            <a:ext cx="3733799" cy="6857999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A892841F-619F-AA09-31CA-7A4EF0893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95400"/>
            <a:ext cx="821571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and simple layout: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Removed extra elements to make the screen neat.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 clutter: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Reduced the number of items to help the user focus.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hierarchy: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Important items are now big and easy to find first.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navigation: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Icons are clear and have labels to guide the user.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see: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Main content is highlighted so the user knows what to do next.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Recognition: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Users can quickly recognize icons without hard thinking.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21635" y="68580"/>
            <a:ext cx="6929120" cy="787400"/>
            <a:chOff x="2421635" y="68580"/>
            <a:chExt cx="6929120" cy="787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32520" y="178308"/>
              <a:ext cx="617981" cy="60579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1635" y="68580"/>
              <a:ext cx="4004310" cy="78714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8839" y="68580"/>
              <a:ext cx="3156966" cy="78714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8602" rIns="0" bIns="0" rtlCol="0">
            <a:spAutoFit/>
          </a:bodyPr>
          <a:lstStyle/>
          <a:p>
            <a:pPr marL="2512060">
              <a:lnSpc>
                <a:spcPct val="100000"/>
              </a:lnSpc>
              <a:spcBef>
                <a:spcPts val="95"/>
              </a:spcBef>
              <a:tabLst>
                <a:tab pos="6049645" algn="l"/>
              </a:tabLst>
            </a:pPr>
            <a:r>
              <a:rPr spc="-225" dirty="0"/>
              <a:t>UX</a:t>
            </a:r>
            <a:r>
              <a:rPr spc="-150" dirty="0"/>
              <a:t> </a:t>
            </a:r>
            <a:r>
              <a:rPr spc="-135" dirty="0"/>
              <a:t>IMPROVEMENT</a:t>
            </a:r>
            <a:r>
              <a:rPr spc="-105" dirty="0"/>
              <a:t> </a:t>
            </a:r>
            <a:r>
              <a:rPr spc="-445" dirty="0"/>
              <a:t>_</a:t>
            </a:r>
            <a:r>
              <a:rPr dirty="0"/>
              <a:t>	</a:t>
            </a:r>
            <a:r>
              <a:rPr spc="-20" dirty="0"/>
              <a:t>HOME</a:t>
            </a:r>
            <a:r>
              <a:rPr spc="-190" dirty="0"/>
              <a:t> SCREEN</a:t>
            </a:r>
            <a:r>
              <a:rPr spc="-175" dirty="0"/>
              <a:t> </a:t>
            </a:r>
            <a:r>
              <a:rPr spc="-45" dirty="0"/>
              <a:t>:</a:t>
            </a:r>
            <a:r>
              <a:rPr sz="2250" spc="-45" dirty="0">
                <a:solidFill>
                  <a:srgbClr val="FFFFFF"/>
                </a:solidFill>
                <a:latin typeface="Segoe UI Symbol"/>
                <a:cs typeface="Segoe UI Symbol"/>
              </a:rPr>
              <a:t>⯈</a:t>
            </a:r>
            <a:endParaRPr sz="2250">
              <a:latin typeface="Segoe UI Symbol"/>
              <a:cs typeface="Segoe UI Symbol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F1B0227-EB2B-48DC-8266-4BE709B20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555" y="2101335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24E62D9-4F2D-F066-6EB2-79FF6CF83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32" y="1219200"/>
            <a:ext cx="1081898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things faster: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new design improves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 users find products in less time.</a:t>
            </a:r>
            <a:endParaRPr kumimoji="0" lang="ar-EG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 mess to focus: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Removing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clutter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follows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Aesthetic and Minimalist Design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principle.</a:t>
            </a:r>
            <a:endParaRPr kumimoji="0" lang="ar-EG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Guides the eye: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hierarchy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makes important information have better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ar-EG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learn: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New users have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cognitive load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makes the app very easy to learn.</a:t>
            </a:r>
            <a:endParaRPr kumimoji="0" lang="ar-EG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moving: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Users move between sections easily because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navigation clarity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ar-EG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Recognition: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is easier for users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recognize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icons than to remember them from memory.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3400" y="304170"/>
            <a:ext cx="9039225" cy="458459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093085">
              <a:lnSpc>
                <a:spcPct val="100000"/>
              </a:lnSpc>
              <a:spcBef>
                <a:spcPts val="95"/>
              </a:spcBef>
            </a:pPr>
            <a:r>
              <a:rPr lang="en-US" sz="2400" dirty="0"/>
              <a:t>COMPARISON _ HOME PAGE</a:t>
            </a:r>
            <a:endParaRPr sz="2250" dirty="0">
              <a:latin typeface="Segoe UI Symbol"/>
              <a:cs typeface="Segoe UI Symbo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129766"/>
              </p:ext>
            </p:extLst>
          </p:nvPr>
        </p:nvGraphicFramePr>
        <p:xfrm>
          <a:off x="2025650" y="1411350"/>
          <a:ext cx="8128000" cy="4913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7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8875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Before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E6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After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8875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lang="en-US" dirty="0"/>
                        <a:t>Too much </a:t>
                      </a:r>
                      <a:r>
                        <a:rPr lang="en-US" b="1" dirty="0"/>
                        <a:t>visual clutter</a:t>
                      </a:r>
                      <a:r>
                        <a:rPr lang="en-US" dirty="0"/>
                        <a:t> 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lang="en-US" b="1" dirty="0"/>
                        <a:t>Minimalist Design</a:t>
                      </a:r>
                      <a:r>
                        <a:rPr lang="en-US" dirty="0"/>
                        <a:t> and clean layout 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8875"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lang="en-US" dirty="0"/>
                        <a:t>No clear </a:t>
                      </a:r>
                      <a:r>
                        <a:rPr lang="en-US" b="1" dirty="0"/>
                        <a:t>visual hierarchy</a:t>
                      </a:r>
                      <a:r>
                        <a:rPr lang="en-US" dirty="0"/>
                        <a:t> 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lang="en-US" b="1" dirty="0"/>
                        <a:t>Better Visibility</a:t>
                      </a:r>
                      <a:r>
                        <a:rPr lang="en-US" dirty="0"/>
                        <a:t> to guide the eye 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8875"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lang="en-US" b="1" dirty="0"/>
                        <a:t>Distracting ads</a:t>
                      </a:r>
                      <a:r>
                        <a:rPr lang="en-US" dirty="0"/>
                        <a:t> causing confusion 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R="81280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lang="en-US" dirty="0"/>
                        <a:t>Better </a:t>
                      </a:r>
                      <a:r>
                        <a:rPr lang="en-US" b="1" dirty="0"/>
                        <a:t>focus</a:t>
                      </a:r>
                      <a:r>
                        <a:rPr lang="en-US" dirty="0"/>
                        <a:t> on main products 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8875"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lang="en-US" b="1" dirty="0"/>
                        <a:t>Distracting ads</a:t>
                      </a:r>
                      <a:r>
                        <a:rPr lang="en-US" dirty="0"/>
                        <a:t> causing confusion 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lang="en-US" b="1" dirty="0"/>
                        <a:t>Navigation clarity</a:t>
                      </a:r>
                      <a:r>
                        <a:rPr lang="en-US" dirty="0"/>
                        <a:t> for easy moving 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8875">
                <a:tc>
                  <a:txBody>
                    <a:bodyPr/>
                    <a:lstStyle/>
                    <a:p>
                      <a:pPr marR="81280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US" dirty="0"/>
                        <a:t>Small and </a:t>
                      </a:r>
                      <a:r>
                        <a:rPr lang="en-US" b="1" dirty="0"/>
                        <a:t>unclear icons</a:t>
                      </a:r>
                      <a:r>
                        <a:rPr lang="en-US" dirty="0"/>
                        <a:t> 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R="81280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US" dirty="0"/>
                        <a:t>Improved </a:t>
                      </a:r>
                      <a:r>
                        <a:rPr lang="en-US" b="1" dirty="0"/>
                        <a:t>Efficiency</a:t>
                      </a:r>
                      <a:r>
                        <a:rPr lang="en-US" dirty="0"/>
                        <a:t> and faster use 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6800" y="0"/>
            <a:ext cx="3505199" cy="6857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15519" y="1447800"/>
            <a:ext cx="7979563" cy="2728311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96545" indent="-200660">
              <a:lnSpc>
                <a:spcPct val="100000"/>
              </a:lnSpc>
              <a:spcBef>
                <a:spcPts val="235"/>
              </a:spcBef>
              <a:buFont typeface="Verdana"/>
              <a:buChar char="•"/>
              <a:tabLst>
                <a:tab pos="296545" algn="l"/>
              </a:tabLst>
            </a:pPr>
            <a:r>
              <a:rPr lang="en-US" b="1" dirty="0"/>
              <a:t>Crowded screen:</a:t>
            </a:r>
            <a:r>
              <a:rPr lang="en-US" dirty="0"/>
              <a:t> Too many elements close together.</a:t>
            </a:r>
            <a:endParaRPr lang="ar-EG" dirty="0"/>
          </a:p>
          <a:p>
            <a:pPr marL="296545" indent="-200660">
              <a:lnSpc>
                <a:spcPct val="100000"/>
              </a:lnSpc>
              <a:spcBef>
                <a:spcPts val="235"/>
              </a:spcBef>
              <a:buFont typeface="Verdana"/>
              <a:buChar char="•"/>
              <a:tabLst>
                <a:tab pos="296545" algn="l"/>
              </a:tabLst>
            </a:pPr>
            <a:endParaRPr lang="ar-EG" dirty="0"/>
          </a:p>
          <a:p>
            <a:pPr marL="296545" indent="-200660">
              <a:lnSpc>
                <a:spcPct val="100000"/>
              </a:lnSpc>
              <a:spcBef>
                <a:spcPts val="235"/>
              </a:spcBef>
              <a:buFont typeface="Verdana"/>
              <a:buChar char="•"/>
              <a:tabLst>
                <a:tab pos="296545" algn="l"/>
              </a:tabLst>
            </a:pPr>
            <a:r>
              <a:rPr lang="en-US" b="1" dirty="0"/>
              <a:t>Main action hidden:</a:t>
            </a:r>
            <a:r>
              <a:rPr lang="en-US" dirty="0"/>
              <a:t> The "Add to Cart" button is not clear.</a:t>
            </a:r>
            <a:endParaRPr lang="ar-EG" dirty="0"/>
          </a:p>
          <a:p>
            <a:pPr marL="296545" indent="-200660">
              <a:lnSpc>
                <a:spcPct val="100000"/>
              </a:lnSpc>
              <a:spcBef>
                <a:spcPts val="235"/>
              </a:spcBef>
              <a:buFont typeface="Verdana"/>
              <a:buChar char="•"/>
              <a:tabLst>
                <a:tab pos="296545" algn="l"/>
              </a:tabLst>
            </a:pPr>
            <a:endParaRPr lang="ar-EG" dirty="0"/>
          </a:p>
          <a:p>
            <a:pPr marL="296545" indent="-200660">
              <a:lnSpc>
                <a:spcPct val="100000"/>
              </a:lnSpc>
              <a:spcBef>
                <a:spcPts val="235"/>
              </a:spcBef>
              <a:buFont typeface="Verdana"/>
              <a:buChar char="•"/>
              <a:tabLst>
                <a:tab pos="296545" algn="l"/>
              </a:tabLst>
            </a:pPr>
            <a:r>
              <a:rPr lang="en-US" b="1" dirty="0"/>
              <a:t>2D Limitation:</a:t>
            </a:r>
            <a:r>
              <a:rPr lang="en-US" dirty="0"/>
              <a:t> Only flat photos, no real size view.</a:t>
            </a:r>
            <a:endParaRPr lang="ar-EG" dirty="0"/>
          </a:p>
          <a:p>
            <a:pPr marL="296545" indent="-200660">
              <a:lnSpc>
                <a:spcPct val="100000"/>
              </a:lnSpc>
              <a:spcBef>
                <a:spcPts val="235"/>
              </a:spcBef>
              <a:buFont typeface="Verdana"/>
              <a:buChar char="•"/>
              <a:tabLst>
                <a:tab pos="296545" algn="l"/>
              </a:tabLst>
            </a:pPr>
            <a:endParaRPr lang="ar-EG" dirty="0"/>
          </a:p>
          <a:p>
            <a:pPr marL="296545" indent="-200660">
              <a:lnSpc>
                <a:spcPct val="100000"/>
              </a:lnSpc>
              <a:spcBef>
                <a:spcPts val="235"/>
              </a:spcBef>
              <a:buFont typeface="Verdana"/>
              <a:buChar char="•"/>
              <a:tabLst>
                <a:tab pos="296545" algn="l"/>
              </a:tabLst>
            </a:pPr>
            <a:r>
              <a:rPr lang="en-US" b="1" dirty="0"/>
              <a:t>Hard to scan:</a:t>
            </a:r>
            <a:r>
              <a:rPr lang="en-US" dirty="0"/>
              <a:t> Users struggle to find the price and details.</a:t>
            </a:r>
            <a:endParaRPr lang="ar-EG" dirty="0"/>
          </a:p>
          <a:p>
            <a:pPr marL="296545" indent="-200660">
              <a:lnSpc>
                <a:spcPct val="100000"/>
              </a:lnSpc>
              <a:spcBef>
                <a:spcPts val="235"/>
              </a:spcBef>
              <a:buFont typeface="Verdana"/>
              <a:buChar char="•"/>
              <a:tabLst>
                <a:tab pos="296545" algn="l"/>
              </a:tabLst>
            </a:pPr>
            <a:endParaRPr lang="ar-EG" dirty="0"/>
          </a:p>
          <a:p>
            <a:pPr marL="296545" indent="-200660">
              <a:lnSpc>
                <a:spcPct val="100000"/>
              </a:lnSpc>
              <a:spcBef>
                <a:spcPts val="235"/>
              </a:spcBef>
              <a:buFont typeface="Verdana"/>
              <a:buChar char="•"/>
              <a:tabLst>
                <a:tab pos="296545" algn="l"/>
              </a:tabLst>
            </a:pPr>
            <a:r>
              <a:rPr lang="en-US" b="1" dirty="0"/>
              <a:t>Risk of mistakes:</a:t>
            </a:r>
            <a:r>
              <a:rPr lang="en-US" dirty="0"/>
              <a:t> Users might buy the wrong size.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-76200" y="304800"/>
            <a:ext cx="9039225" cy="505650"/>
          </a:xfrm>
          <a:prstGeom prst="rect">
            <a:avLst/>
          </a:prstGeom>
        </p:spPr>
        <p:txBody>
          <a:bodyPr vert="horz" wrap="square" lIns="0" tIns="74040" rIns="0" bIns="0" rtlCol="0">
            <a:spAutoFit/>
          </a:bodyPr>
          <a:lstStyle/>
          <a:p>
            <a:pPr marL="6597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BEFORE MODIFICATION _ PRODUCT PAGE</a:t>
            </a:r>
            <a:endParaRPr sz="2250" dirty="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-304800" y="152400"/>
            <a:ext cx="903922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509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AFTER MODIFICATION _ PRODUCT PAGE</a:t>
            </a:r>
            <a:endParaRPr sz="2250" dirty="0">
              <a:latin typeface="Segoe UI Symbol"/>
              <a:cs typeface="Segoe UI 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3974" y="1035558"/>
            <a:ext cx="7563484" cy="25186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804" indent="-205104">
              <a:lnSpc>
                <a:spcPct val="100000"/>
              </a:lnSpc>
              <a:spcBef>
                <a:spcPts val="100"/>
              </a:spcBef>
              <a:buChar char="•"/>
              <a:tabLst>
                <a:tab pos="217804" algn="l"/>
              </a:tabLst>
            </a:pPr>
            <a:r>
              <a:rPr lang="en-US" b="1" dirty="0"/>
              <a:t>Large images:</a:t>
            </a:r>
            <a:r>
              <a:rPr lang="en-US" dirty="0"/>
              <a:t> Clearly shown at the top.</a:t>
            </a:r>
            <a:endParaRPr lang="ar-EG" dirty="0"/>
          </a:p>
          <a:p>
            <a:pPr marL="217804" indent="-205104">
              <a:lnSpc>
                <a:spcPct val="100000"/>
              </a:lnSpc>
              <a:spcBef>
                <a:spcPts val="100"/>
              </a:spcBef>
              <a:buChar char="•"/>
              <a:tabLst>
                <a:tab pos="217804" algn="l"/>
              </a:tabLst>
            </a:pPr>
            <a:endParaRPr sz="1800" dirty="0">
              <a:latin typeface="Tahoma"/>
              <a:cs typeface="Tahoma"/>
            </a:endParaRPr>
          </a:p>
          <a:p>
            <a:pPr marL="217804" indent="-205104">
              <a:lnSpc>
                <a:spcPct val="100000"/>
              </a:lnSpc>
              <a:buChar char="•"/>
              <a:tabLst>
                <a:tab pos="217804" algn="l"/>
              </a:tabLst>
            </a:pPr>
            <a:r>
              <a:rPr lang="en-US" b="1" dirty="0"/>
              <a:t>Added AR:</a:t>
            </a:r>
            <a:r>
              <a:rPr lang="en-US" dirty="0"/>
              <a:t> "View in Your Room" helps see real size.</a:t>
            </a:r>
            <a:endParaRPr lang="ar-EG" dirty="0"/>
          </a:p>
          <a:p>
            <a:pPr marL="217804" indent="-205104">
              <a:lnSpc>
                <a:spcPct val="100000"/>
              </a:lnSpc>
              <a:buChar char="•"/>
              <a:tabLst>
                <a:tab pos="217804" algn="l"/>
              </a:tabLst>
            </a:pPr>
            <a:endParaRPr sz="1800" dirty="0">
              <a:latin typeface="Tahoma"/>
              <a:cs typeface="Tahoma"/>
            </a:endParaRPr>
          </a:p>
          <a:p>
            <a:pPr marL="217804" indent="-205104">
              <a:lnSpc>
                <a:spcPct val="100000"/>
              </a:lnSpc>
              <a:buChar char="•"/>
              <a:tabLst>
                <a:tab pos="217804" algn="l"/>
              </a:tabLst>
            </a:pPr>
            <a:r>
              <a:rPr lang="en-US" b="1" dirty="0"/>
              <a:t>360° View:</a:t>
            </a:r>
            <a:r>
              <a:rPr lang="en-US" dirty="0"/>
              <a:t> Provides a spatial experience.</a:t>
            </a:r>
            <a:endParaRPr lang="ar-EG" dirty="0"/>
          </a:p>
          <a:p>
            <a:pPr marL="217804" indent="-205104">
              <a:lnSpc>
                <a:spcPct val="100000"/>
              </a:lnSpc>
              <a:buChar char="•"/>
              <a:tabLst>
                <a:tab pos="217804" algn="l"/>
              </a:tabLst>
            </a:pPr>
            <a:endParaRPr sz="1800" dirty="0">
              <a:latin typeface="Tahoma"/>
              <a:cs typeface="Tahoma"/>
            </a:endParaRPr>
          </a:p>
          <a:p>
            <a:pPr marL="217804" indent="-205104">
              <a:lnSpc>
                <a:spcPct val="100000"/>
              </a:lnSpc>
              <a:buChar char="•"/>
              <a:tabLst>
                <a:tab pos="217804" algn="l"/>
              </a:tabLst>
            </a:pPr>
            <a:r>
              <a:rPr lang="en-US" b="1" dirty="0"/>
              <a:t>Visible button:</a:t>
            </a:r>
            <a:r>
              <a:rPr lang="en-US" dirty="0"/>
              <a:t> Large orange "Add to Cart" button.</a:t>
            </a:r>
            <a:endParaRPr lang="ar-EG" dirty="0"/>
          </a:p>
          <a:p>
            <a:pPr marL="217804" indent="-205104">
              <a:lnSpc>
                <a:spcPct val="100000"/>
              </a:lnSpc>
              <a:buChar char="•"/>
              <a:tabLst>
                <a:tab pos="217804" algn="l"/>
              </a:tabLst>
            </a:pPr>
            <a:endParaRPr sz="1800" dirty="0">
              <a:latin typeface="Tahoma"/>
              <a:cs typeface="Tahoma"/>
            </a:endParaRPr>
          </a:p>
          <a:p>
            <a:pPr marL="217804" indent="-205104">
              <a:lnSpc>
                <a:spcPct val="100000"/>
              </a:lnSpc>
              <a:buChar char="•"/>
              <a:tabLst>
                <a:tab pos="217804" algn="l"/>
              </a:tabLst>
            </a:pPr>
            <a:r>
              <a:rPr lang="en-US" b="1" dirty="0"/>
              <a:t>Good spacing:</a:t>
            </a:r>
            <a:r>
              <a:rPr lang="en-US" dirty="0"/>
              <a:t> Makes reading faster and easier.</a:t>
            </a:r>
            <a:endParaRPr sz="18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7379" y="0"/>
            <a:ext cx="36446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905000" y="381000"/>
            <a:ext cx="653923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0" algn="l"/>
              </a:tabLst>
            </a:pPr>
            <a:r>
              <a:rPr lang="en-US" sz="2400" dirty="0"/>
              <a:t>UX IMPROVEMET _ PRODUCT PAGE</a:t>
            </a:r>
            <a:endParaRPr sz="2250" dirty="0">
              <a:latin typeface="Segoe UI Symbol"/>
              <a:cs typeface="Segoe UI 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9112" y="1429257"/>
            <a:ext cx="7523888" cy="31168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0330" indent="-97155">
              <a:lnSpc>
                <a:spcPct val="100000"/>
              </a:lnSpc>
              <a:spcBef>
                <a:spcPts val="105"/>
              </a:spcBef>
              <a:buSzPct val="95000"/>
              <a:buChar char="•"/>
              <a:tabLst>
                <a:tab pos="100330" algn="l"/>
              </a:tabLst>
            </a:pPr>
            <a:r>
              <a:rPr lang="en-US" sz="2000" b="1" dirty="0"/>
              <a:t>Faster decisions:</a:t>
            </a:r>
            <a:r>
              <a:rPr lang="en-US" sz="2000" dirty="0"/>
              <a:t> AR helps users choose quickly.</a:t>
            </a:r>
            <a:endParaRPr lang="ar-EG" sz="2000" dirty="0"/>
          </a:p>
          <a:p>
            <a:pPr marL="100330" indent="-97155">
              <a:lnSpc>
                <a:spcPct val="100000"/>
              </a:lnSpc>
              <a:spcBef>
                <a:spcPts val="105"/>
              </a:spcBef>
              <a:buSzPct val="95000"/>
              <a:buChar char="•"/>
              <a:tabLst>
                <a:tab pos="100330" algn="l"/>
              </a:tabLst>
            </a:pPr>
            <a:endParaRPr sz="2000" dirty="0">
              <a:latin typeface="Arial MT"/>
              <a:cs typeface="Arial MT"/>
            </a:endParaRPr>
          </a:p>
          <a:p>
            <a:pPr marL="100330" indent="-97155">
              <a:lnSpc>
                <a:spcPct val="100000"/>
              </a:lnSpc>
              <a:buSzPct val="95000"/>
              <a:buChar char="•"/>
              <a:tabLst>
                <a:tab pos="100330" algn="l"/>
              </a:tabLst>
            </a:pPr>
            <a:r>
              <a:rPr lang="en-US" sz="2000" b="1" dirty="0"/>
              <a:t>Better Visibility:</a:t>
            </a:r>
            <a:r>
              <a:rPr lang="en-US" sz="2000" dirty="0"/>
              <a:t> Important info is now very easy to find.</a:t>
            </a:r>
            <a:endParaRPr lang="ar-EG" sz="2000" dirty="0"/>
          </a:p>
          <a:p>
            <a:pPr marL="100330" indent="-97155">
              <a:lnSpc>
                <a:spcPct val="100000"/>
              </a:lnSpc>
              <a:buSzPct val="95000"/>
              <a:buChar char="•"/>
              <a:tabLst>
                <a:tab pos="100330" algn="l"/>
              </a:tabLst>
            </a:pPr>
            <a:endParaRPr sz="2000" dirty="0">
              <a:latin typeface="Arial MT"/>
              <a:cs typeface="Arial MT"/>
            </a:endParaRPr>
          </a:p>
          <a:p>
            <a:pPr marL="100330" indent="-97155">
              <a:lnSpc>
                <a:spcPct val="100000"/>
              </a:lnSpc>
              <a:buSzPct val="95000"/>
              <a:buChar char="•"/>
              <a:tabLst>
                <a:tab pos="100330" algn="l"/>
              </a:tabLst>
            </a:pPr>
            <a:r>
              <a:rPr lang="en-US" sz="2000" b="1" dirty="0"/>
              <a:t>Improved Utility:</a:t>
            </a:r>
            <a:r>
              <a:rPr lang="en-US" sz="2000" dirty="0"/>
              <a:t> AR and 360 view provide the "right features".</a:t>
            </a:r>
            <a:endParaRPr lang="ar-EG" sz="2000" dirty="0"/>
          </a:p>
          <a:p>
            <a:pPr marL="100330" indent="-97155">
              <a:lnSpc>
                <a:spcPct val="100000"/>
              </a:lnSpc>
              <a:buSzPct val="95000"/>
              <a:buChar char="•"/>
              <a:tabLst>
                <a:tab pos="100330" algn="l"/>
              </a:tabLst>
            </a:pPr>
            <a:endParaRPr sz="2000" dirty="0">
              <a:latin typeface="Arial MT"/>
              <a:cs typeface="Arial MT"/>
            </a:endParaRPr>
          </a:p>
          <a:p>
            <a:pPr marL="100330" indent="-97155">
              <a:lnSpc>
                <a:spcPct val="100000"/>
              </a:lnSpc>
              <a:spcBef>
                <a:spcPts val="5"/>
              </a:spcBef>
              <a:buSzPct val="95000"/>
              <a:buChar char="•"/>
              <a:tabLst>
                <a:tab pos="100330" algn="l"/>
              </a:tabLst>
            </a:pPr>
            <a:r>
              <a:rPr lang="en-US" sz="2000" b="1" dirty="0"/>
              <a:t>Less thinking:</a:t>
            </a:r>
            <a:r>
              <a:rPr lang="en-US" sz="2000" dirty="0"/>
              <a:t> Simple layout reduces "cognitive load".</a:t>
            </a:r>
            <a:endParaRPr lang="ar-EG" sz="2000" dirty="0"/>
          </a:p>
          <a:p>
            <a:pPr marL="100330" indent="-97155">
              <a:lnSpc>
                <a:spcPct val="100000"/>
              </a:lnSpc>
              <a:spcBef>
                <a:spcPts val="5"/>
              </a:spcBef>
              <a:buSzPct val="95000"/>
              <a:buChar char="•"/>
              <a:tabLst>
                <a:tab pos="100330" algn="l"/>
              </a:tabLst>
            </a:pPr>
            <a:endParaRPr sz="2000" dirty="0">
              <a:latin typeface="Arial MT"/>
              <a:cs typeface="Arial MT"/>
            </a:endParaRPr>
          </a:p>
          <a:p>
            <a:pPr marL="100330" indent="-97155">
              <a:lnSpc>
                <a:spcPct val="100000"/>
              </a:lnSpc>
              <a:spcBef>
                <a:spcPts val="5"/>
              </a:spcBef>
              <a:buSzPct val="95000"/>
              <a:buChar char="•"/>
              <a:tabLst>
                <a:tab pos="100330" algn="l"/>
              </a:tabLst>
            </a:pPr>
            <a:r>
              <a:rPr lang="en-US" sz="2000" b="1" dirty="0"/>
              <a:t>Natural feel:</a:t>
            </a:r>
            <a:r>
              <a:rPr lang="en-US" sz="2000" dirty="0"/>
              <a:t> AR interaction feels more natural.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0" y="228600"/>
            <a:ext cx="9039225" cy="520398"/>
          </a:xfrm>
          <a:prstGeom prst="rect">
            <a:avLst/>
          </a:prstGeom>
        </p:spPr>
        <p:txBody>
          <a:bodyPr vert="horz" wrap="square" lIns="0" tIns="88645" rIns="0" bIns="0" rtlCol="0">
            <a:spAutoFit/>
          </a:bodyPr>
          <a:lstStyle/>
          <a:p>
            <a:pPr marL="3028315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COMPARISON</a:t>
            </a:r>
            <a:r>
              <a:rPr spc="-150" dirty="0"/>
              <a:t> </a:t>
            </a:r>
            <a:r>
              <a:rPr spc="-130" dirty="0"/>
              <a:t>_PRODUCT</a:t>
            </a:r>
            <a:r>
              <a:rPr spc="-185" dirty="0"/>
              <a:t> </a:t>
            </a:r>
            <a:r>
              <a:rPr dirty="0"/>
              <a:t>PAGE</a:t>
            </a:r>
            <a:r>
              <a:rPr spc="-725" dirty="0"/>
              <a:t> </a:t>
            </a:r>
            <a:endParaRPr sz="2250" dirty="0">
              <a:latin typeface="Segoe UI Symbol"/>
              <a:cs typeface="Segoe UI Symbo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025650" y="1411350"/>
          <a:ext cx="8128000" cy="4617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9620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Before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E6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After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42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9620"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45" dirty="0">
                          <a:latin typeface="Verdana"/>
                          <a:cs typeface="Verdana"/>
                        </a:rPr>
                        <a:t>Crowded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screen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with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many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R="79375" algn="r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elements.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R="81280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Clean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layout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with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clear</a:t>
                      </a:r>
                      <a:r>
                        <a:rPr sz="1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spacing.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9620"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No</a:t>
                      </a:r>
                      <a:r>
                        <a:rPr sz="1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clear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separation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between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R="80010" algn="r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sections.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Clear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separation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content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R="79375" algn="r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sections.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9620">
                <a:tc>
                  <a:txBody>
                    <a:bodyPr/>
                    <a:lstStyle/>
                    <a:p>
                      <a:pPr marR="81280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Main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action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emphasized.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5" dirty="0">
                          <a:latin typeface="Verdana"/>
                          <a:cs typeface="Verdana"/>
                        </a:rPr>
                        <a:t>Strong </a:t>
                      </a:r>
                      <a:r>
                        <a:rPr sz="1800" spc="6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visible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95" dirty="0">
                          <a:latin typeface="Verdana"/>
                          <a:cs typeface="Verdana"/>
                        </a:rPr>
                        <a:t>“Add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to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Cart”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R="79375" algn="r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button.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9620"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30" dirty="0">
                          <a:latin typeface="Verdana"/>
                          <a:cs typeface="Verdana"/>
                        </a:rPr>
                        <a:t>Hard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to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scan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product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details.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5" dirty="0">
                          <a:latin typeface="Verdana"/>
                          <a:cs typeface="Verdana"/>
                        </a:rPr>
                        <a:t>Easy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65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fast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to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scan</a:t>
                      </a:r>
                      <a:r>
                        <a:rPr sz="18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information.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9620"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65" dirty="0">
                          <a:latin typeface="Verdana"/>
                          <a:cs typeface="Verdana"/>
                        </a:rPr>
                        <a:t>Higher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 user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effort.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80" dirty="0">
                          <a:latin typeface="Verdana"/>
                          <a:cs typeface="Verdana"/>
                        </a:rPr>
                        <a:t>Smoother </a:t>
                      </a:r>
                      <a:r>
                        <a:rPr sz="1800" spc="6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18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clearer</a:t>
                      </a:r>
                      <a:r>
                        <a:rPr sz="18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user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flow.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D8DA1-8E61-CF23-AE3A-1CC4D8497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33800" y="2921168"/>
            <a:ext cx="3886200" cy="1015663"/>
          </a:xfrm>
        </p:spPr>
        <p:txBody>
          <a:bodyPr/>
          <a:lstStyle/>
          <a:p>
            <a:r>
              <a:rPr lang="en-US" sz="66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63326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Words>697</Words>
  <Application>Microsoft Office PowerPoint</Application>
  <PresentationFormat>Widescreen</PresentationFormat>
  <Paragraphs>114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MT</vt:lpstr>
      <vt:lpstr>Calibri</vt:lpstr>
      <vt:lpstr>Segoe UI Symbol</vt:lpstr>
      <vt:lpstr>Tahoma</vt:lpstr>
      <vt:lpstr>Times New Roman</vt:lpstr>
      <vt:lpstr>Verdana</vt:lpstr>
      <vt:lpstr>Office Theme</vt:lpstr>
      <vt:lpstr>PROJECT</vt:lpstr>
      <vt:lpstr>BEFORE MODIFICATION: Home Screen</vt:lpstr>
      <vt:lpstr>Violated HCI Principles:</vt:lpstr>
      <vt:lpstr>AFTER MODIFICATION: HOME SCREEN </vt:lpstr>
      <vt:lpstr>UX IMPROVEMENT _ HOME SCREEN :⯈</vt:lpstr>
      <vt:lpstr>COMPARISON _ HOME PAGE</vt:lpstr>
      <vt:lpstr>BEFORE MODIFICATION _ PRODUCT PAGE</vt:lpstr>
      <vt:lpstr>AFTER MODIFICATION _ PRODUCT PAGE</vt:lpstr>
      <vt:lpstr>UX IMPROVEMET _ PRODUCT PAGE</vt:lpstr>
      <vt:lpstr>COMPARISON _PRODUCT PAGE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Mohamed awaad</dc:creator>
  <cp:lastModifiedBy>فارس ناجح عبد العال عبد العال</cp:lastModifiedBy>
  <cp:revision>2</cp:revision>
  <dcterms:created xsi:type="dcterms:W3CDTF">2025-12-19T12:28:14Z</dcterms:created>
  <dcterms:modified xsi:type="dcterms:W3CDTF">2025-12-19T14:32:56Z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2025-12-19T00:00:00Z</vt:filetime>
  </property>
  <property fmtid="{D5CDD505-2E9C-101B-9397-08002B2CF9AE}" pid="5" name="Producer">
    <vt:lpwstr>Microsoft® PowerPoint® for Microsoft 365</vt:lpwstr>
  </property>
</Properties>
</file>